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Montserrat Bold" charset="1" panose="00000800000000000000"/>
      <p:regular r:id="rId14"/>
    </p:embeddedFont>
    <p:embeddedFont>
      <p:font typeface="Open Sans" charset="1" panose="00000000000000000000"/>
      <p:regular r:id="rId15"/>
    </p:embeddedFont>
    <p:embeddedFont>
      <p:font typeface="Montserrat" charset="1" panose="0000050000000000000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30D33">
                <a:alpha val="100000"/>
              </a:srgbClr>
            </a:gs>
            <a:gs pos="100000">
              <a:srgbClr val="003537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770864" y="3317589"/>
            <a:ext cx="12746271" cy="3819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852"/>
              </a:lnSpc>
            </a:pPr>
            <a:r>
              <a:rPr lang="en-US" b="true" sz="13502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STOCK PREDICTOR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028700" y="1028700"/>
            <a:ext cx="650744" cy="515862"/>
          </a:xfrm>
          <a:custGeom>
            <a:avLst/>
            <a:gdLst/>
            <a:ahLst/>
            <a:cxnLst/>
            <a:rect r="r" b="b" t="t" l="l"/>
            <a:pathLst>
              <a:path h="515862" w="650744">
                <a:moveTo>
                  <a:pt x="0" y="0"/>
                </a:moveTo>
                <a:lnTo>
                  <a:pt x="650744" y="0"/>
                </a:lnTo>
                <a:lnTo>
                  <a:pt x="650744" y="515862"/>
                </a:lnTo>
                <a:lnTo>
                  <a:pt x="0" y="5158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>
            <a:off x="7558567" y="7922448"/>
            <a:ext cx="6989044" cy="0"/>
          </a:xfrm>
          <a:prstGeom prst="line">
            <a:avLst/>
          </a:prstGeom>
          <a:ln cap="flat" w="66675">
            <a:gradFill>
              <a:gsLst>
                <a:gs pos="0">
                  <a:srgbClr val="4EA46A">
                    <a:alpha val="100000"/>
                  </a:srgbClr>
                </a:gs>
                <a:gs pos="100000">
                  <a:srgbClr val="005C57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3740388" y="7553825"/>
            <a:ext cx="3981900" cy="737246"/>
            <a:chOff x="0" y="0"/>
            <a:chExt cx="2194986" cy="406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986" cy="406400"/>
            </a:xfrm>
            <a:custGeom>
              <a:avLst/>
              <a:gdLst/>
              <a:ahLst/>
              <a:cxnLst/>
              <a:rect r="r" b="b" t="t" l="l"/>
              <a:pathLst>
                <a:path h="406400" w="2194986">
                  <a:moveTo>
                    <a:pt x="1991786" y="0"/>
                  </a:moveTo>
                  <a:cubicBezTo>
                    <a:pt x="2104010" y="0"/>
                    <a:pt x="2194986" y="90976"/>
                    <a:pt x="2194986" y="203200"/>
                  </a:cubicBezTo>
                  <a:cubicBezTo>
                    <a:pt x="2194986" y="315424"/>
                    <a:pt x="2104010" y="406400"/>
                    <a:pt x="1991786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EA46A">
                    <a:alpha val="100000"/>
                  </a:srgbClr>
                </a:gs>
                <a:gs pos="100000">
                  <a:srgbClr val="005C57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2194986" cy="454025"/>
            </a:xfrm>
            <a:prstGeom prst="rect">
              <a:avLst/>
            </a:prstGeom>
          </p:spPr>
          <p:txBody>
            <a:bodyPr anchor="ctr" rtlCol="false" tIns="31690" lIns="31690" bIns="31690" rIns="31690"/>
            <a:lstStyle/>
            <a:p>
              <a:pPr algn="ctr" marL="0" indent="0" lvl="0">
                <a:lnSpc>
                  <a:spcPts val="32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54367" y="8594705"/>
            <a:ext cx="425077" cy="425077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EA46A">
                    <a:alpha val="100000"/>
                  </a:srgbClr>
                </a:gs>
                <a:gs pos="100000">
                  <a:srgbClr val="005C57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6429463" y="8593190"/>
            <a:ext cx="293547" cy="293547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EA46A">
                    <a:alpha val="100000"/>
                  </a:srgbClr>
                </a:gs>
                <a:gs pos="100000">
                  <a:srgbClr val="005C57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4712738" y="3062301"/>
            <a:ext cx="1137437" cy="1137437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EA46A">
                    <a:alpha val="100000"/>
                  </a:srgbClr>
                </a:gs>
                <a:gs pos="100000">
                  <a:srgbClr val="005C57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5850174" y="4027160"/>
            <a:ext cx="349058" cy="349058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EA46A">
                    <a:alpha val="100000"/>
                  </a:srgbClr>
                </a:gs>
                <a:gs pos="100000">
                  <a:srgbClr val="005C57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-418546" y="8807243"/>
            <a:ext cx="1971124" cy="1971124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EA46A">
                    <a:alpha val="100000"/>
                  </a:srgbClr>
                </a:gs>
                <a:gs pos="100000">
                  <a:srgbClr val="005C57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2" id="22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2425708" y="3374103"/>
            <a:ext cx="345156" cy="345156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EA46A">
                    <a:alpha val="100000"/>
                  </a:srgbClr>
                </a:gs>
                <a:gs pos="100000">
                  <a:srgbClr val="005C57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5" id="25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2744194" y="3269541"/>
            <a:ext cx="155786" cy="155786"/>
            <a:chOff x="0" y="0"/>
            <a:chExt cx="812800" cy="812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EA46A">
                    <a:alpha val="100000"/>
                  </a:srgbClr>
                </a:gs>
                <a:gs pos="100000">
                  <a:srgbClr val="005C57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8" id="28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1880696" y="1055868"/>
            <a:ext cx="3293004" cy="413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6"/>
              </a:lnSpc>
            </a:pPr>
            <a:r>
              <a:rPr lang="en-US" sz="2454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Maya Siddiqui-Patel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3982323" y="7691685"/>
            <a:ext cx="3498031" cy="413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36"/>
              </a:lnSpc>
            </a:pPr>
            <a:r>
              <a:rPr lang="en-US" sz="2454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Model Analysis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30D33">
                <a:alpha val="100000"/>
              </a:srgbClr>
            </a:gs>
            <a:gs pos="100000">
              <a:srgbClr val="003537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028700"/>
            <a:ext cx="650744" cy="515862"/>
          </a:xfrm>
          <a:custGeom>
            <a:avLst/>
            <a:gdLst/>
            <a:ahLst/>
            <a:cxnLst/>
            <a:rect r="r" b="b" t="t" l="l"/>
            <a:pathLst>
              <a:path h="515862" w="650744">
                <a:moveTo>
                  <a:pt x="0" y="0"/>
                </a:moveTo>
                <a:lnTo>
                  <a:pt x="650744" y="0"/>
                </a:lnTo>
                <a:lnTo>
                  <a:pt x="650744" y="515862"/>
                </a:lnTo>
                <a:lnTo>
                  <a:pt x="0" y="5158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880696" y="2728948"/>
            <a:ext cx="8983857" cy="2127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77"/>
              </a:lnSpc>
            </a:pPr>
            <a:r>
              <a:rPr lang="en-US" sz="698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Opening &amp; Motivation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880696" y="5297538"/>
            <a:ext cx="5345938" cy="789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 spc="147" b="true">
                <a:solidFill>
                  <a:srgbClr val="4EA46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Why Forecast Stock Prices with RNNs ?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880696" y="5971190"/>
            <a:ext cx="8871816" cy="835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1" indent="-215900" lvl="1">
              <a:lnSpc>
                <a:spcPts val="3400"/>
              </a:lnSpc>
              <a:buFont typeface="Arial"/>
              <a:buChar char="•"/>
            </a:pPr>
            <a:r>
              <a:rPr lang="en-US" sz="2000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Rumours, leaks → constant changes</a:t>
            </a:r>
          </a:p>
          <a:p>
            <a:pPr algn="l" marL="431801" indent="-215900" lvl="1">
              <a:lnSpc>
                <a:spcPts val="3400"/>
              </a:lnSpc>
              <a:buFont typeface="Arial"/>
              <a:buChar char="•"/>
            </a:pPr>
            <a:r>
              <a:rPr lang="en-US" sz="2000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Deep-learning approaches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9961431" y="8092090"/>
            <a:ext cx="283334" cy="283334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EA46A">
                    <a:alpha val="100000"/>
                  </a:srgbClr>
                </a:gs>
                <a:gs pos="100000">
                  <a:srgbClr val="005C57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-291680" y="9301438"/>
            <a:ext cx="1971124" cy="1971124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EA46A">
                    <a:alpha val="100000"/>
                  </a:srgbClr>
                </a:gs>
                <a:gs pos="100000">
                  <a:srgbClr val="005C57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8805426" y="1544562"/>
            <a:ext cx="223236" cy="223236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EA46A">
                    <a:alpha val="100000"/>
                  </a:srgbClr>
                </a:gs>
                <a:gs pos="100000">
                  <a:srgbClr val="005C57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8805426" y="3836486"/>
            <a:ext cx="5345938" cy="38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 spc="147" b="true">
                <a:solidFill>
                  <a:srgbClr val="4EA46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Three questions: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805426" y="4510138"/>
            <a:ext cx="8871816" cy="2120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1" indent="-215900" lvl="1">
              <a:lnSpc>
                <a:spcPts val="3400"/>
              </a:lnSpc>
              <a:buAutoNum type="arabicPeriod" startAt="1"/>
            </a:pPr>
            <a:r>
              <a:rPr lang="en-US" sz="2000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 Architecture: GRU &gt; LSTM on single‑stock price prediction ?</a:t>
            </a:r>
          </a:p>
          <a:p>
            <a:pPr algn="l" marL="431801" indent="-215900" lvl="1">
              <a:lnSpc>
                <a:spcPts val="3400"/>
              </a:lnSpc>
              <a:buAutoNum type="arabicPeriod" startAt="1"/>
            </a:pPr>
            <a:r>
              <a:rPr lang="en-US" sz="2000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 Feature engineering: technical indicators ⟶ improve accuracy over raw closing prices ?</a:t>
            </a:r>
          </a:p>
          <a:p>
            <a:pPr algn="l" marL="431801" indent="-215900" lvl="1">
              <a:lnSpc>
                <a:spcPts val="3400"/>
              </a:lnSpc>
              <a:buAutoNum type="arabicPeriod" startAt="1"/>
            </a:pPr>
            <a:r>
              <a:rPr lang="en-US" sz="2000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 Activation functions: can pairing activationswith specific feature sets push error lower ?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30D33">
                <a:alpha val="100000"/>
              </a:srgbClr>
            </a:gs>
            <a:gs pos="100000">
              <a:srgbClr val="003537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028700"/>
            <a:ext cx="650744" cy="515862"/>
          </a:xfrm>
          <a:custGeom>
            <a:avLst/>
            <a:gdLst/>
            <a:ahLst/>
            <a:cxnLst/>
            <a:rect r="r" b="b" t="t" l="l"/>
            <a:pathLst>
              <a:path h="515862" w="650744">
                <a:moveTo>
                  <a:pt x="0" y="0"/>
                </a:moveTo>
                <a:lnTo>
                  <a:pt x="650744" y="0"/>
                </a:lnTo>
                <a:lnTo>
                  <a:pt x="650744" y="515862"/>
                </a:lnTo>
                <a:lnTo>
                  <a:pt x="0" y="5158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880696" y="2728948"/>
            <a:ext cx="8983857" cy="1063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77"/>
              </a:lnSpc>
            </a:pPr>
            <a:r>
              <a:rPr lang="en-US" sz="698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Methodology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880696" y="5297538"/>
            <a:ext cx="5345938" cy="38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 spc="147" b="true">
                <a:solidFill>
                  <a:srgbClr val="4EA46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Seeded &amp; Unseeded Analysis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733790" y="4490479"/>
            <a:ext cx="4055609" cy="297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1" indent="-215900" lvl="1">
              <a:lnSpc>
                <a:spcPts val="3400"/>
              </a:lnSpc>
              <a:buFont typeface="Arial"/>
              <a:buChar char="•"/>
            </a:pPr>
            <a:r>
              <a:rPr lang="en-US" sz="2000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LSTM</a:t>
            </a:r>
          </a:p>
          <a:p>
            <a:pPr algn="l" marL="431801" indent="-215900" lvl="1">
              <a:lnSpc>
                <a:spcPts val="3400"/>
              </a:lnSpc>
              <a:buFont typeface="Arial"/>
              <a:buChar char="•"/>
            </a:pPr>
            <a:r>
              <a:rPr lang="en-US" sz="2000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GRU</a:t>
            </a:r>
          </a:p>
          <a:p>
            <a:pPr algn="l" marL="431801" indent="-215900" lvl="1">
              <a:lnSpc>
                <a:spcPts val="3400"/>
              </a:lnSpc>
              <a:buFont typeface="Arial"/>
              <a:buChar char="•"/>
            </a:pPr>
            <a:r>
              <a:rPr lang="en-US" sz="2000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GRU-C-Tanh/Relu/LReLU</a:t>
            </a:r>
          </a:p>
          <a:p>
            <a:pPr algn="l" marL="431801" indent="-215900" lvl="1">
              <a:lnSpc>
                <a:spcPts val="3400"/>
              </a:lnSpc>
              <a:buFont typeface="Arial"/>
              <a:buChar char="•"/>
            </a:pPr>
            <a:r>
              <a:rPr lang="en-US" sz="2000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GRU-CV-Tanh/LReLU/ELU</a:t>
            </a:r>
          </a:p>
          <a:p>
            <a:pPr algn="l" marL="431801" indent="-215900" lvl="1">
              <a:lnSpc>
                <a:spcPts val="3400"/>
              </a:lnSpc>
              <a:buFont typeface="Arial"/>
              <a:buChar char="•"/>
            </a:pPr>
            <a:r>
              <a:rPr lang="en-US" sz="2000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GRU-RM-Tanh/Swish</a:t>
            </a:r>
          </a:p>
          <a:p>
            <a:pPr algn="l" marL="431801" indent="-215900" lvl="1">
              <a:lnSpc>
                <a:spcPts val="3400"/>
              </a:lnSpc>
              <a:buFont typeface="Arial"/>
              <a:buChar char="•"/>
            </a:pPr>
            <a:r>
              <a:rPr lang="en-US" sz="2000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GRU-Vol-Tanh/ELU/ReLU</a:t>
            </a:r>
          </a:p>
          <a:p>
            <a:pPr algn="l" marL="431801" indent="-215900" lvl="1">
              <a:lnSpc>
                <a:spcPts val="3400"/>
              </a:lnSpc>
              <a:buFont typeface="Arial"/>
              <a:buChar char="•"/>
            </a:pPr>
            <a:r>
              <a:rPr lang="en-US" sz="2000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GRU-All-Tanh/Swish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9961431" y="8092090"/>
            <a:ext cx="283334" cy="283334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EA46A">
                    <a:alpha val="100000"/>
                  </a:srgbClr>
                </a:gs>
                <a:gs pos="100000">
                  <a:srgbClr val="005C57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-291680" y="9301438"/>
            <a:ext cx="1971124" cy="1971124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EA46A">
                    <a:alpha val="100000"/>
                  </a:srgbClr>
                </a:gs>
                <a:gs pos="100000">
                  <a:srgbClr val="005C57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8805426" y="1544562"/>
            <a:ext cx="223236" cy="223236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EA46A">
                    <a:alpha val="100000"/>
                  </a:srgbClr>
                </a:gs>
                <a:gs pos="100000">
                  <a:srgbClr val="005C57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880696" y="5927166"/>
            <a:ext cx="4055609" cy="1263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1" indent="-215900" lvl="1">
              <a:lnSpc>
                <a:spcPts val="3400"/>
              </a:lnSpc>
              <a:buFont typeface="Arial"/>
              <a:buChar char="•"/>
            </a:pPr>
            <a:r>
              <a:rPr lang="en-US" sz="2000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1 Seeded</a:t>
            </a:r>
          </a:p>
          <a:p>
            <a:pPr algn="l" marL="431801" indent="-215900" lvl="1">
              <a:lnSpc>
                <a:spcPts val="3400"/>
              </a:lnSpc>
              <a:buFont typeface="Arial"/>
              <a:buChar char="•"/>
            </a:pPr>
            <a:r>
              <a:rPr lang="en-US" sz="2000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3 Unseeded (Avg)</a:t>
            </a:r>
          </a:p>
          <a:p>
            <a:pPr algn="l" marL="431801" indent="-215900" lvl="1">
              <a:lnSpc>
                <a:spcPts val="3400"/>
              </a:lnSpc>
              <a:buFont typeface="Arial"/>
              <a:buChar char="•"/>
            </a:pPr>
            <a:r>
              <a:rPr lang="en-US" sz="2000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Time + RMSE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864553" y="3745211"/>
            <a:ext cx="5345938" cy="38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 spc="147" b="true">
                <a:solidFill>
                  <a:srgbClr val="4EA46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Models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30D33">
                <a:alpha val="100000"/>
              </a:srgbClr>
            </a:gs>
            <a:gs pos="100000">
              <a:srgbClr val="003537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028700"/>
            <a:ext cx="650744" cy="515862"/>
          </a:xfrm>
          <a:custGeom>
            <a:avLst/>
            <a:gdLst/>
            <a:ahLst/>
            <a:cxnLst/>
            <a:rect r="r" b="b" t="t" l="l"/>
            <a:pathLst>
              <a:path h="515862" w="650744">
                <a:moveTo>
                  <a:pt x="0" y="0"/>
                </a:moveTo>
                <a:lnTo>
                  <a:pt x="650744" y="0"/>
                </a:lnTo>
                <a:lnTo>
                  <a:pt x="650744" y="515862"/>
                </a:lnTo>
                <a:lnTo>
                  <a:pt x="0" y="5158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961431" y="8092090"/>
            <a:ext cx="283334" cy="283334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EA46A">
                    <a:alpha val="100000"/>
                  </a:srgbClr>
                </a:gs>
                <a:gs pos="100000">
                  <a:srgbClr val="005C57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291680" y="9301438"/>
            <a:ext cx="1971124" cy="1971124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EA46A">
                    <a:alpha val="100000"/>
                  </a:srgbClr>
                </a:gs>
                <a:gs pos="100000">
                  <a:srgbClr val="005C57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8805426" y="1544562"/>
            <a:ext cx="223236" cy="223236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EA46A">
                    <a:alpha val="100000"/>
                  </a:srgbClr>
                </a:gs>
                <a:gs pos="100000">
                  <a:srgbClr val="005C57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aphicFrame>
        <p:nvGraphicFramePr>
          <p:cNvPr name="Table 12" id="12"/>
          <p:cNvGraphicFramePr>
            <a:graphicFrameLocks noGrp="true"/>
          </p:cNvGraphicFramePr>
          <p:nvPr/>
        </p:nvGraphicFramePr>
        <p:xfrm>
          <a:off x="1679444" y="1656181"/>
          <a:ext cx="15685114" cy="8525740"/>
        </p:xfrm>
        <a:graphic>
          <a:graphicData uri="http://schemas.openxmlformats.org/drawingml/2006/table">
            <a:tbl>
              <a:tblPr/>
              <a:tblGrid>
                <a:gridCol w="3137023"/>
                <a:gridCol w="3137023"/>
                <a:gridCol w="3137023"/>
                <a:gridCol w="3137023"/>
                <a:gridCol w="3137023"/>
              </a:tblGrid>
              <a:tr h="117683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FFFFFF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Model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FFFFFF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Features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FFFFFF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Activations (RNN → Dense)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FFFFFF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RMSE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FFFFFF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Time (s)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5460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LSTM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Close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tanh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14.62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 99.8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5460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GRU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Close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tanh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14.40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110.0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7683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GRU‑C‑Tanh/Relu/LReLU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Close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tanh → ReLU → LeakyReLU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3.43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109.5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7683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GRU‑CV‑Tanh/LReLU/ELU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Close+Vol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tanh → tanh → LeakyReLU → ELU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18.99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111.2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5460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GRU‑RM‑Tanh/Swish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Close+RSI+MACD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tanh → tanh → Swish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17.49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111.8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7683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GRU‑Vol‑Tanh/ELU/ReLU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Volatility set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tanh → ELU → ReLU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9.02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110.6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5460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GRU‑All‑Tanh/Swish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Kitchen‑Sink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tanh → tanh → Swish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14.58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109.8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13" id="13"/>
          <p:cNvSpPr txBox="true"/>
          <p:nvPr/>
        </p:nvSpPr>
        <p:spPr>
          <a:xfrm rot="0">
            <a:off x="2083320" y="592293"/>
            <a:ext cx="8983857" cy="1063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77"/>
              </a:lnSpc>
            </a:pPr>
            <a:r>
              <a:rPr lang="en-US" sz="698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Results - Seeded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30D33">
                <a:alpha val="100000"/>
              </a:srgbClr>
            </a:gs>
            <a:gs pos="100000">
              <a:srgbClr val="003537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028700"/>
            <a:ext cx="650744" cy="515862"/>
          </a:xfrm>
          <a:custGeom>
            <a:avLst/>
            <a:gdLst/>
            <a:ahLst/>
            <a:cxnLst/>
            <a:rect r="r" b="b" t="t" l="l"/>
            <a:pathLst>
              <a:path h="515862" w="650744">
                <a:moveTo>
                  <a:pt x="0" y="0"/>
                </a:moveTo>
                <a:lnTo>
                  <a:pt x="650744" y="0"/>
                </a:lnTo>
                <a:lnTo>
                  <a:pt x="650744" y="515862"/>
                </a:lnTo>
                <a:lnTo>
                  <a:pt x="0" y="5158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961431" y="8092090"/>
            <a:ext cx="283334" cy="283334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EA46A">
                    <a:alpha val="100000"/>
                  </a:srgbClr>
                </a:gs>
                <a:gs pos="100000">
                  <a:srgbClr val="005C57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291680" y="9301438"/>
            <a:ext cx="1971124" cy="1971124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EA46A">
                    <a:alpha val="100000"/>
                  </a:srgbClr>
                </a:gs>
                <a:gs pos="100000">
                  <a:srgbClr val="005C57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8805426" y="1544562"/>
            <a:ext cx="223236" cy="223236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EA46A">
                    <a:alpha val="100000"/>
                  </a:srgbClr>
                </a:gs>
                <a:gs pos="100000">
                  <a:srgbClr val="005C57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aphicFrame>
        <p:nvGraphicFramePr>
          <p:cNvPr name="Table 12" id="12"/>
          <p:cNvGraphicFramePr>
            <a:graphicFrameLocks noGrp="true"/>
          </p:cNvGraphicFramePr>
          <p:nvPr/>
        </p:nvGraphicFramePr>
        <p:xfrm>
          <a:off x="1354072" y="3374772"/>
          <a:ext cx="15685114" cy="3110345"/>
        </p:xfrm>
        <a:graphic>
          <a:graphicData uri="http://schemas.openxmlformats.org/drawingml/2006/table">
            <a:tbl>
              <a:tblPr/>
              <a:tblGrid>
                <a:gridCol w="1960639"/>
                <a:gridCol w="1960639"/>
                <a:gridCol w="1960639"/>
                <a:gridCol w="1960639"/>
                <a:gridCol w="1960639"/>
                <a:gridCol w="1960639"/>
                <a:gridCol w="1960639"/>
                <a:gridCol w="1960639"/>
              </a:tblGrid>
              <a:tr h="118610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FFFFFF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(mean ± range) RMSE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FFFFFF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LSTM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FFFFFF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GRU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FFFFFF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GRU‑C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FFFFFF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GRU‑CV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FFFFFF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GRU‑RM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FFFFFF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GRU‑Vol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FFFFFF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GRU‑All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6212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FFFFFF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RMSE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14.53 ± 13.9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11.97 ± 3.24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9.83 ± 3.64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25.61 ± 12.9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22.96 ± 14.8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9.03 ± 15.2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25.98 ± 2.46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6212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FFFFFF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Time (s)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99.3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110.1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110.4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109.9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113.7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127.7*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109.9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13" id="13"/>
          <p:cNvSpPr txBox="true"/>
          <p:nvPr/>
        </p:nvSpPr>
        <p:spPr>
          <a:xfrm rot="0">
            <a:off x="2083320" y="592293"/>
            <a:ext cx="8983857" cy="1063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77"/>
              </a:lnSpc>
            </a:pPr>
            <a:r>
              <a:rPr lang="en-US" sz="698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Results - Unseeded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30D33">
                <a:alpha val="100000"/>
              </a:srgbClr>
            </a:gs>
            <a:gs pos="100000">
              <a:srgbClr val="003537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028700"/>
            <a:ext cx="650744" cy="515862"/>
          </a:xfrm>
          <a:custGeom>
            <a:avLst/>
            <a:gdLst/>
            <a:ahLst/>
            <a:cxnLst/>
            <a:rect r="r" b="b" t="t" l="l"/>
            <a:pathLst>
              <a:path h="515862" w="650744">
                <a:moveTo>
                  <a:pt x="0" y="0"/>
                </a:moveTo>
                <a:lnTo>
                  <a:pt x="650744" y="0"/>
                </a:lnTo>
                <a:lnTo>
                  <a:pt x="650744" y="515862"/>
                </a:lnTo>
                <a:lnTo>
                  <a:pt x="0" y="5158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376071" y="2405770"/>
            <a:ext cx="8983857" cy="1063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77"/>
              </a:lnSpc>
            </a:pPr>
            <a:r>
              <a:rPr lang="en-US" sz="698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Discussion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471031" y="4746008"/>
            <a:ext cx="5345938" cy="38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 spc="147" b="true">
                <a:solidFill>
                  <a:srgbClr val="4EA46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GRU-C-Tanh/Relu/LReLU ?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9961431" y="8092090"/>
            <a:ext cx="283334" cy="283334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EA46A">
                    <a:alpha val="100000"/>
                  </a:srgbClr>
                </a:gs>
                <a:gs pos="100000">
                  <a:srgbClr val="005C57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-291680" y="9301438"/>
            <a:ext cx="1971124" cy="1971124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EA46A">
                    <a:alpha val="100000"/>
                  </a:srgbClr>
                </a:gs>
                <a:gs pos="100000">
                  <a:srgbClr val="005C57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805426" y="1544562"/>
            <a:ext cx="223236" cy="223236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EA46A">
                    <a:alpha val="100000"/>
                  </a:srgbClr>
                </a:gs>
                <a:gs pos="100000">
                  <a:srgbClr val="005C57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6812391" y="5500328"/>
            <a:ext cx="4055609" cy="1263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1" indent="-215900" lvl="1">
              <a:lnSpc>
                <a:spcPts val="3400"/>
              </a:lnSpc>
              <a:buAutoNum type="arabicPeriod" startAt="1"/>
            </a:pPr>
            <a:r>
              <a:rPr lang="en-US" sz="2000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Model capacity vs. over-fit ?</a:t>
            </a:r>
          </a:p>
          <a:p>
            <a:pPr algn="l" marL="431801" indent="-215900" lvl="1">
              <a:lnSpc>
                <a:spcPts val="3400"/>
              </a:lnSpc>
              <a:buAutoNum type="arabicPeriod" startAt="1"/>
            </a:pPr>
            <a:r>
              <a:rPr lang="en-US" sz="2000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Feature-activation synergy</a:t>
            </a:r>
          </a:p>
          <a:p>
            <a:pPr algn="l" marL="431801" indent="-215900" lvl="1">
              <a:lnSpc>
                <a:spcPts val="3400"/>
              </a:lnSpc>
              <a:buAutoNum type="arabicPeriod" startAt="1"/>
            </a:pPr>
            <a:r>
              <a:rPr lang="en-US" sz="2000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Volume’s double-edged sword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30D33">
                <a:alpha val="100000"/>
              </a:srgbClr>
            </a:gs>
            <a:gs pos="100000">
              <a:srgbClr val="003537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028700"/>
            <a:ext cx="650744" cy="515862"/>
          </a:xfrm>
          <a:custGeom>
            <a:avLst/>
            <a:gdLst/>
            <a:ahLst/>
            <a:cxnLst/>
            <a:rect r="r" b="b" t="t" l="l"/>
            <a:pathLst>
              <a:path h="515862" w="650744">
                <a:moveTo>
                  <a:pt x="0" y="0"/>
                </a:moveTo>
                <a:lnTo>
                  <a:pt x="650744" y="0"/>
                </a:lnTo>
                <a:lnTo>
                  <a:pt x="650744" y="515862"/>
                </a:lnTo>
                <a:lnTo>
                  <a:pt x="0" y="5158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623599" y="2185655"/>
            <a:ext cx="12675664" cy="1063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77"/>
              </a:lnSpc>
            </a:pPr>
            <a:r>
              <a:rPr lang="en-US" sz="698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Limitations &amp; Future-Work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623599" y="5076825"/>
            <a:ext cx="10653408" cy="12008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9370" indent="-379685" lvl="1">
              <a:lnSpc>
                <a:spcPts val="4924"/>
              </a:lnSpc>
              <a:buAutoNum type="arabicPeriod" startAt="1"/>
            </a:pPr>
            <a:r>
              <a:rPr lang="en-US" b="true" sz="3517" spc="225">
                <a:solidFill>
                  <a:srgbClr val="4EA46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Single-asset scope: AAPL</a:t>
            </a:r>
          </a:p>
          <a:p>
            <a:pPr algn="l" marL="759370" indent="-379685" lvl="1">
              <a:lnSpc>
                <a:spcPts val="4924"/>
              </a:lnSpc>
              <a:buAutoNum type="arabicPeriod" startAt="1"/>
            </a:pPr>
            <a:r>
              <a:rPr lang="en-US" b="true" sz="3517" spc="225">
                <a:solidFill>
                  <a:srgbClr val="4EA46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Daily granularity: intraday patterns ?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9961431" y="8092090"/>
            <a:ext cx="283334" cy="283334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EA46A">
                    <a:alpha val="100000"/>
                  </a:srgbClr>
                </a:gs>
                <a:gs pos="100000">
                  <a:srgbClr val="005C57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-291680" y="9301438"/>
            <a:ext cx="1971124" cy="1971124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EA46A">
                    <a:alpha val="100000"/>
                  </a:srgbClr>
                </a:gs>
                <a:gs pos="100000">
                  <a:srgbClr val="005C57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805426" y="1544562"/>
            <a:ext cx="223236" cy="223236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EA46A">
                    <a:alpha val="100000"/>
                  </a:srgbClr>
                </a:gs>
                <a:gs pos="100000">
                  <a:srgbClr val="005C57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30D33">
                <a:alpha val="100000"/>
              </a:srgbClr>
            </a:gs>
            <a:gs pos="100000">
              <a:srgbClr val="003537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028700"/>
            <a:ext cx="650744" cy="515862"/>
          </a:xfrm>
          <a:custGeom>
            <a:avLst/>
            <a:gdLst/>
            <a:ahLst/>
            <a:cxnLst/>
            <a:rect r="r" b="b" t="t" l="l"/>
            <a:pathLst>
              <a:path h="515862" w="650744">
                <a:moveTo>
                  <a:pt x="0" y="0"/>
                </a:moveTo>
                <a:lnTo>
                  <a:pt x="650744" y="0"/>
                </a:lnTo>
                <a:lnTo>
                  <a:pt x="650744" y="515862"/>
                </a:lnTo>
                <a:lnTo>
                  <a:pt x="0" y="5158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376071" y="2405770"/>
            <a:ext cx="8983857" cy="1063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77"/>
              </a:lnSpc>
            </a:pPr>
            <a:r>
              <a:rPr lang="en-US" sz="698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Conclusion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567427" y="4260645"/>
            <a:ext cx="11792501" cy="17085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8245" indent="-359123" lvl="1">
              <a:lnSpc>
                <a:spcPts val="4657"/>
              </a:lnSpc>
              <a:buAutoNum type="arabicPeriod" startAt="1"/>
            </a:pPr>
            <a:r>
              <a:rPr lang="en-US" b="true" sz="3326" spc="212">
                <a:solidFill>
                  <a:srgbClr val="4EA46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Lean architecture &gt; bloated (limited data)</a:t>
            </a:r>
          </a:p>
          <a:p>
            <a:pPr algn="l" marL="718245" indent="-359123" lvl="1">
              <a:lnSpc>
                <a:spcPts val="4657"/>
              </a:lnSpc>
              <a:buAutoNum type="arabicPeriod" startAt="1"/>
            </a:pPr>
            <a:r>
              <a:rPr lang="en-US" b="true" sz="3326" spc="212">
                <a:solidFill>
                  <a:srgbClr val="4EA46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Activation-feature compatibility matters</a:t>
            </a:r>
          </a:p>
          <a:p>
            <a:pPr algn="l" marL="718245" indent="-359123" lvl="1">
              <a:lnSpc>
                <a:spcPts val="4657"/>
              </a:lnSpc>
              <a:buAutoNum type="arabicPeriod" startAt="1"/>
            </a:pPr>
            <a:r>
              <a:rPr lang="en-US" b="true" sz="3326" spc="212">
                <a:solidFill>
                  <a:srgbClr val="4EA46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Reproducibility requires seeding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9961431" y="8092090"/>
            <a:ext cx="283334" cy="283334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EA46A">
                    <a:alpha val="100000"/>
                  </a:srgbClr>
                </a:gs>
                <a:gs pos="100000">
                  <a:srgbClr val="005C57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-291680" y="9301438"/>
            <a:ext cx="1971124" cy="1971124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EA46A">
                    <a:alpha val="100000"/>
                  </a:srgbClr>
                </a:gs>
                <a:gs pos="100000">
                  <a:srgbClr val="005C57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805426" y="1544562"/>
            <a:ext cx="223236" cy="223236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EA46A">
                    <a:alpha val="100000"/>
                  </a:srgbClr>
                </a:gs>
                <a:gs pos="100000">
                  <a:srgbClr val="005C57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7042018" y="6740730"/>
            <a:ext cx="3973289" cy="655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33"/>
              </a:lnSpc>
            </a:pPr>
            <a:r>
              <a:rPr lang="en-US" sz="3809" spc="243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Less is more 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DAGmRPbgojU</dc:identifier>
  <dcterms:modified xsi:type="dcterms:W3CDTF">2011-08-01T06:04:30Z</dcterms:modified>
  <cp:revision>1</cp:revision>
  <dc:title>CS5393FinalPPT</dc:title>
</cp:coreProperties>
</file>